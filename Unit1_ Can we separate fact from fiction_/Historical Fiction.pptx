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yHrfurgsx45VSIBcPGhrQKKBN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67CC74-47F8-4050-9A49-803AC4EF36E9}">
  <a:tblStyle styleId="{EB67CC74-47F8-4050-9A49-803AC4EF36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dce022247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6dce022247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6dce022247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e1dced150198a5f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4e1dced150198a5f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4e1dced150198a5f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e1dced150198a5f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4e1dced150198a5f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4e1dced150198a5f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dce022247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6dce022247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6dce022247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dce022247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6dce022247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6dce022247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6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" name="Google Shape;35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38" name="Google Shape;38;p1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9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9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D2CDB0"/>
          </a:solidFill>
          <a:ln>
            <a:noFill/>
          </a:ln>
        </p:spPr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title"/>
          </p:nvPr>
        </p:nvSpPr>
        <p:spPr>
          <a:xfrm>
            <a:off x="1235765" y="1146383"/>
            <a:ext cx="10515600" cy="73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imes New Roman"/>
              <a:buNone/>
            </a:pPr>
            <a:b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IN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2136913" y="2534044"/>
            <a:ext cx="8428500" cy="249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Topic: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Introduction to Historical Fiction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Title: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Exploring Genres: Understanding Historical Fiction</a:t>
            </a:r>
            <a:b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Focus: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Identifying and understanding the key elements and conventions of Historical Fiction through discussion and real-life examples.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2837413" y="608217"/>
            <a:ext cx="5643000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Historical Fiction</a:t>
            </a:r>
            <a:endParaRPr b="0" i="0" sz="2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/>
        </p:nvSpPr>
        <p:spPr>
          <a:xfrm>
            <a:off x="1987825" y="1820852"/>
            <a:ext cx="690024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269724" y="2101526"/>
            <a:ext cx="9842100" cy="1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1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Concept: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Communication</a:t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1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Concepts: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Setting, Point of View</a:t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1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Context: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Orientation in Time and Space (exploring how historical events influence stories)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2623922" y="1143000"/>
            <a:ext cx="55650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MYP Framework/ Unit details</a:t>
            </a:r>
            <a:endParaRPr b="0" i="0" sz="2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1097280" y="664290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 Black"/>
              <a:buNone/>
            </a:pPr>
            <a:r>
              <a:rPr b="1" lang="en-IN" sz="2000">
                <a:latin typeface="Arial Black"/>
                <a:ea typeface="Arial Black"/>
                <a:cs typeface="Arial Black"/>
                <a:sym typeface="Arial Black"/>
              </a:rPr>
              <a:t>Statement of inquiry:</a:t>
            </a:r>
            <a:r>
              <a:rPr lang="en-IN" sz="2000">
                <a:latin typeface="Arial Black"/>
                <a:ea typeface="Arial Black"/>
                <a:cs typeface="Arial Black"/>
                <a:sym typeface="Arial Black"/>
              </a:rPr>
              <a:t> Stories set in the past help us communicate ideas about history, society, and human experiences. (Key words can be given from this and students can make their own SOI first)</a:t>
            </a:r>
            <a:br>
              <a:rPr b="1" lang="en-IN"/>
            </a:br>
            <a:endParaRPr b="1"/>
          </a:p>
        </p:txBody>
      </p:sp>
      <p:sp>
        <p:nvSpPr>
          <p:cNvPr id="120" name="Google Shape;120;p3"/>
          <p:cNvSpPr txBox="1"/>
          <p:nvPr>
            <p:ph idx="1" type="body"/>
          </p:nvPr>
        </p:nvSpPr>
        <p:spPr>
          <a:xfrm>
            <a:off x="1097280" y="2044517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IN"/>
              <a:t>Inquiry Questions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IN"/>
              <a:t>Factual:</a:t>
            </a:r>
            <a:r>
              <a:rPr lang="en-IN"/>
              <a:t> What is Historical Fiction? What are the conventions of Historical Fiction?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IN"/>
              <a:t>Conceptual:</a:t>
            </a:r>
            <a:r>
              <a:rPr lang="en-IN"/>
              <a:t> How does Historical Fiction help us understand the past?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IN"/>
              <a:t>Debatable:</a:t>
            </a:r>
            <a:r>
              <a:rPr lang="en-IN"/>
              <a:t> Should Historical Fiction stick closely to real facts or have creative freedom?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 Black"/>
              <a:buNone/>
            </a:pPr>
            <a:r>
              <a:rPr lang="en-IN" sz="2400">
                <a:latin typeface="Arial Black"/>
                <a:ea typeface="Arial Black"/>
                <a:cs typeface="Arial Black"/>
                <a:sym typeface="Arial Black"/>
              </a:rPr>
              <a:t>Lesson objective</a:t>
            </a:r>
            <a:endParaRPr/>
          </a:p>
        </p:txBody>
      </p:sp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I will be able to: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/>
              <a:t>-Identify the key elements of Historical Fiction.</a:t>
            </a:r>
            <a:br>
              <a:rPr lang="en-IN"/>
            </a:b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/>
              <a:t>-Explain how Historical Fiction differs from other genres.</a:t>
            </a:r>
            <a:br>
              <a:rPr lang="en-IN"/>
            </a:b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/>
              <a:t>-Connect real historical events to fictional stories.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1331843" y="910426"/>
            <a:ext cx="7814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Approaches to Learning (ATL)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1095789" y="2146852"/>
            <a:ext cx="80508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Thinking Skills:</a:t>
            </a:r>
            <a:r>
              <a:rPr b="0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Critical and creative thinking</a:t>
            </a:r>
            <a:br>
              <a:rPr b="0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Skills:</a:t>
            </a:r>
            <a:r>
              <a:rPr b="0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Finding and interpreting information</a:t>
            </a:r>
            <a:br>
              <a:rPr b="0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 Skills:</a:t>
            </a:r>
            <a:r>
              <a:rPr b="0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Sharing ideas and opinions clearly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ctrTitle"/>
          </p:nvPr>
        </p:nvSpPr>
        <p:spPr>
          <a:xfrm>
            <a:off x="946232" y="415829"/>
            <a:ext cx="10162500" cy="238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b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IN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1083375" y="1145012"/>
            <a:ext cx="9680700" cy="5061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55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Task: Read the story: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Title: The Hidden Letter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1942, twelve-year-old Anya found a secret letter under a floorboard. It spoke of escape, bravery, and hope. Holding it close, she imagined the writer’s journey through war-torn streets. Years later, she’d tell that forgotten story—reminding everyone that even whispers from the past can change the future.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type of fiction does this story belong to and why? Note down the keywords related to the genre.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dce022247_0_24"/>
          <p:cNvSpPr txBox="1"/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Prior Knowledge Test</a:t>
            </a:r>
            <a:r>
              <a:rPr lang="en-I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(5 mins, pairs)</a:t>
            </a:r>
            <a:br>
              <a:rPr lang="en-I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Questions: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lang="en-I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essential components of a story?</a:t>
            </a:r>
            <a:br>
              <a:rPr lang="en-I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lang="en-I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Mention 2 elements that make a story interesting.</a:t>
            </a:r>
            <a:br>
              <a:rPr lang="en-I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lang="en-I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do you understand by “Historical Fiction”?</a:t>
            </a:r>
            <a:br>
              <a:rPr lang="en-I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lang="en-I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does Historical Fiction differ from other types of stories?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4e1dced150198a5f_0"/>
          <p:cNvSpPr txBox="1"/>
          <p:nvPr>
            <p:ph type="ctrTitle"/>
          </p:nvPr>
        </p:nvSpPr>
        <p:spPr>
          <a:xfrm>
            <a:off x="946232" y="415829"/>
            <a:ext cx="10162500" cy="238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b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3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100">
                <a:solidFill>
                  <a:schemeClr val="dk1"/>
                </a:solidFill>
              </a:rPr>
            </a:br>
            <a: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IN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53" name="Google Shape;153;g4e1dced150198a5f_0"/>
          <p:cNvSpPr/>
          <p:nvPr/>
        </p:nvSpPr>
        <p:spPr>
          <a:xfrm>
            <a:off x="1083375" y="2102800"/>
            <a:ext cx="9680700" cy="41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55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4e1dced150198a5f_0"/>
          <p:cNvSpPr/>
          <p:nvPr/>
        </p:nvSpPr>
        <p:spPr>
          <a:xfrm>
            <a:off x="0" y="457200"/>
            <a:ext cx="12192000" cy="12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g4e1dced150198a5f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950" y="1903275"/>
            <a:ext cx="10913979" cy="4303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e1dced150198a5f_7"/>
          <p:cNvSpPr txBox="1"/>
          <p:nvPr>
            <p:ph type="ctrTitle"/>
          </p:nvPr>
        </p:nvSpPr>
        <p:spPr>
          <a:xfrm>
            <a:off x="946232" y="415829"/>
            <a:ext cx="10162500" cy="238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b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3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27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Explanation </a:t>
            </a:r>
            <a:br>
              <a:rPr b="1" lang="en-IN" sz="1100">
                <a:solidFill>
                  <a:schemeClr val="dk1"/>
                </a:solidFill>
              </a:rPr>
            </a:br>
            <a: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IN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62" name="Google Shape;162;g4e1dced150198a5f_7"/>
          <p:cNvSpPr/>
          <p:nvPr/>
        </p:nvSpPr>
        <p:spPr>
          <a:xfrm>
            <a:off x="1083375" y="2102800"/>
            <a:ext cx="9680700" cy="41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55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Historical Fiction: A genre where fictional stories are set in real historical times with real or imaginary characters.</a:t>
            </a:r>
            <a:b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Quick analogy: Compare a pure history book vs. a historical fiction novel.</a:t>
            </a:r>
            <a:b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1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History book = facts, dates, real people.</a:t>
            </a:r>
            <a:br>
              <a:rPr b="0" i="1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1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Historical Fiction = adds imaginary characters and dialogue to bring the past alive.</a:t>
            </a:r>
            <a:br>
              <a:rPr b="0" i="1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0" i="1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“If I write a story about my great-grandfather during WWII but invent his conversations — that’s Historical Fiction.”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4e1dced150198a5f_7"/>
          <p:cNvSpPr/>
          <p:nvPr/>
        </p:nvSpPr>
        <p:spPr>
          <a:xfrm>
            <a:off x="0" y="457200"/>
            <a:ext cx="12192000" cy="12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dce022247_0_31"/>
          <p:cNvSpPr txBox="1"/>
          <p:nvPr>
            <p:ph type="ctrTitle"/>
          </p:nvPr>
        </p:nvSpPr>
        <p:spPr>
          <a:xfrm>
            <a:off x="946225" y="415826"/>
            <a:ext cx="10162500" cy="207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b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3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I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rgbClr val="FF0000"/>
              </a:solidFill>
            </a:endParaRPr>
          </a:p>
        </p:txBody>
      </p:sp>
      <p:sp>
        <p:nvSpPr>
          <p:cNvPr id="170" name="Google Shape;170;g36dce022247_0_31"/>
          <p:cNvSpPr/>
          <p:nvPr/>
        </p:nvSpPr>
        <p:spPr>
          <a:xfrm>
            <a:off x="1083375" y="2102800"/>
            <a:ext cx="9680700" cy="41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55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Essential elements of Historical Fiction.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Conventions of Historical Fiction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Realistic Historical Setting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story takes place in a real historical time and place (e.g., Ancient Rome, Colonial India, World War II).</a:t>
            </a:r>
            <a:b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Details about clothes, food, buildings, transport, language, and customs are accurate for that time.</a:t>
            </a:r>
            <a:b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Blend of Fact and Fiction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main characters or plot may be made up, but they live through real historical events or meet real historical figures.</a:t>
            </a:r>
            <a:b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Writers often include real events (like a war or revolution) that shape the plot.</a:t>
            </a:r>
            <a:b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Authentic Characters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Characters speak, behave, and think in ways that match their time period.</a:t>
            </a:r>
            <a:b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might face problems that people really faced back then (like social class, war, disease, limited rights).</a:t>
            </a:r>
            <a:b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6dce022247_0_31"/>
          <p:cNvSpPr/>
          <p:nvPr/>
        </p:nvSpPr>
        <p:spPr>
          <a:xfrm>
            <a:off x="0" y="457200"/>
            <a:ext cx="12192000" cy="12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dce022247_0_39"/>
          <p:cNvSpPr txBox="1"/>
          <p:nvPr>
            <p:ph type="ctrTitle"/>
          </p:nvPr>
        </p:nvSpPr>
        <p:spPr>
          <a:xfrm>
            <a:off x="946225" y="415825"/>
            <a:ext cx="10162500" cy="202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b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3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100">
                <a:solidFill>
                  <a:schemeClr val="dk1"/>
                </a:solidFill>
              </a:rPr>
            </a:br>
            <a:r>
              <a:rPr lang="en-IN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IN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78" name="Google Shape;178;g36dce022247_0_39"/>
          <p:cNvSpPr/>
          <p:nvPr/>
        </p:nvSpPr>
        <p:spPr>
          <a:xfrm>
            <a:off x="1083375" y="2102800"/>
            <a:ext cx="9680700" cy="41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55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Descriptive Language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author uses descriptive details to help the reader imagine the past.</a:t>
            </a:r>
            <a:b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Sensory details (what people saw, heard, smelled) bring the setting to life.</a:t>
            </a:r>
            <a:b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Historical Accuracy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Writers research the time period so they don’t include things that didn’t exist yet.</a:t>
            </a:r>
            <a:b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example: no cell phones in Victorian England!</a:t>
            </a:r>
            <a:b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Themes Linked to History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Stories may explore how people struggled or survived, or how historical events changed people’s lives.</a:t>
            </a:r>
            <a:b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 themes: courage, injustice, freedom, loyalty.</a:t>
            </a:r>
            <a:b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Author’s Note (sometimes)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historical fiction books include a note at the end explaining what was real and what was fictional.</a:t>
            </a:r>
            <a:b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6dce022247_0_39"/>
          <p:cNvSpPr/>
          <p:nvPr/>
        </p:nvSpPr>
        <p:spPr>
          <a:xfrm>
            <a:off x="0" y="457200"/>
            <a:ext cx="12192000" cy="12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/>
        </p:nvSpPr>
        <p:spPr>
          <a:xfrm>
            <a:off x="685800" y="1586287"/>
            <a:ext cx="10853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arenR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Graphic organizer showing </a:t>
            </a:r>
            <a:r>
              <a:rPr b="0" i="1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 vs Fiction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5" name="Google Shape;185;p8"/>
          <p:cNvGraphicFramePr/>
          <p:nvPr/>
        </p:nvGraphicFramePr>
        <p:xfrm>
          <a:off x="514750" y="261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{EB67CC74-47F8-4050-9A49-803AC4EF36E9}</a:tableStyleId>
              </a:tblPr>
              <a:tblGrid>
                <a:gridCol w="3617800"/>
                <a:gridCol w="3617800"/>
                <a:gridCol w="3617800"/>
              </a:tblGrid>
              <a:tr h="323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500" u="none" cap="none" strike="noStrike">
                          <a:solidFill>
                            <a:schemeClr val="dk1"/>
                          </a:solidFill>
                        </a:rPr>
                        <a:t> FACT: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●"/>
                      </a:pPr>
                      <a: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  <a:t>Real events</a:t>
                      </a:r>
                      <a:b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●"/>
                      </a:pPr>
                      <a: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  <a:t>True dates</a:t>
                      </a:r>
                      <a:b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●"/>
                      </a:pPr>
                      <a: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  <a:t>Actual people (historical figures)</a:t>
                      </a:r>
                      <a:b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●"/>
                      </a:pPr>
                      <a: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  <a:t>Evidence and documents</a:t>
                      </a:r>
                      <a:b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●"/>
                      </a:pPr>
                      <a: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  <a:t>Based on real research</a:t>
                      </a:r>
                      <a:b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5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500" u="none" cap="none" strike="noStrike">
                          <a:solidFill>
                            <a:schemeClr val="dk1"/>
                          </a:solidFill>
                        </a:rPr>
                        <a:t>OVERLAP (HISTORICAL FICTION):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●"/>
                      </a:pPr>
                      <a: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  <a:t>Real setting in the past</a:t>
                      </a:r>
                      <a:b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●"/>
                      </a:pPr>
                      <a: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  <a:t>Real events + imaginary stories</a:t>
                      </a:r>
                      <a:b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●"/>
                      </a:pPr>
                      <a: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  <a:t>Real people may appear but interact with fictional characters</a:t>
                      </a:r>
                      <a:b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●"/>
                      </a:pPr>
                      <a: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  <a:t>Factual details add realism to invented stories</a:t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500" u="none" cap="none" strike="noStrike">
                          <a:solidFill>
                            <a:schemeClr val="dk1"/>
                          </a:solidFill>
                        </a:rPr>
                        <a:t>FICTION:</a:t>
                      </a:r>
                      <a:endParaRPr b="1"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●"/>
                      </a:pPr>
                      <a: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  <a:t>Made-up characters</a:t>
                      </a:r>
                      <a:b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●"/>
                      </a:pPr>
                      <a: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  <a:t>Imaginary dialogues</a:t>
                      </a:r>
                      <a:b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●"/>
                      </a:pPr>
                      <a: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  <a:t>Invented plots</a:t>
                      </a:r>
                      <a:b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●"/>
                      </a:pPr>
                      <a: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  <a:t>Creative twists</a:t>
                      </a:r>
                      <a:b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Char char="●"/>
                      </a:pPr>
                      <a:r>
                        <a:rPr lang="en-IN" sz="1500" u="none" cap="none" strike="noStrike">
                          <a:solidFill>
                            <a:schemeClr val="dk1"/>
                          </a:solidFill>
                        </a:rPr>
                        <a:t>Author’s imagination</a:t>
                      </a:r>
                      <a:endParaRPr sz="15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/>
          <p:nvPr/>
        </p:nvSpPr>
        <p:spPr>
          <a:xfrm>
            <a:off x="1254850" y="867234"/>
            <a:ext cx="8263500" cy="2123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Task: 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Revise the elements of historical fiction.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discussion or journaling moment:</a:t>
            </a:r>
            <a:b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“What makes historical fiction powerful or challenging to write?”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3029567" y="259642"/>
            <a:ext cx="70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Assessment for Learning (AfL) </a:t>
            </a:r>
            <a:endParaRPr b="1" i="0" sz="2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775252" y="1910327"/>
            <a:ext cx="10038522" cy="2580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55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Activity: </a:t>
            </a: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Exit Ticket: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Each student writes one new thing they learned and one question they still have about Historical Fiction.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0" y="457200"/>
            <a:ext cx="12192000" cy="12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2047461" y="1083365"/>
            <a:ext cx="77028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Plenary: 3 minutes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