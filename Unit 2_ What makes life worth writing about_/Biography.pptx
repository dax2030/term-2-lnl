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Gochi Hand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tTWEtuqpEL2MMlbyogpfVlW+C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AB3254-84AD-4EA0-B43E-EF3C8DC357E3}">
  <a:tblStyle styleId="{D1AB3254-84AD-4EA0-B43E-EF3C8DC357E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ochiHand-regular.fntdata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fdd28cf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8fdd28cfb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84930f80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984930f807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8faf727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a8faf7270f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8faf7270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a8faf7270f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84930f80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984930f807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fdd28cf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a8fdd28cfb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eaee72587cd15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2eaee72587cd15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45752791546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138745752791546d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8745752791546d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138745752791546d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8745752791546d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138745752791546d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8745752791546d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138745752791546d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38745752791546d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138745752791546d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38745752791546d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138745752791546d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38745752791546d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138745752791546d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38745752791546d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138745752791546d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01535566f60c1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101535566f60c1d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ce64cbc1e297ab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6ce64cbc1e297ab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eaee72587cd15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2eaee72587cd156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hyperlink" Target="https://docs.google.com/document/d/18Ia2tv3r55IVA22uPAT2jFWnPZdu_ARV/edit?usp=drive_link&amp;ouid=112926585890473367957&amp;rtpof=true&amp;sd=tru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hyperlink" Target="https://docs.google.com/document/d/1rr9461s693GhbgJRq69PJBT4ZPqTo6VN/edit?usp=drive_link&amp;ouid=112926585890473367957&amp;rtpof=true&amp;sd=true" TargetMode="External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hyperlink" Target="https://youtu.be/smgyeUomfyA" TargetMode="External"/><Relationship Id="rId7" Type="http://schemas.openxmlformats.org/officeDocument/2006/relationships/hyperlink" Target="https://youtu.be/eN2NMvUrtP0?si=tJRFgr6bdUiaD6l_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8fdd28cfb_0_35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47" r="-12845" t="0"/>
            </a:stretch>
          </a:blipFill>
          <a:ln>
            <a:noFill/>
          </a:ln>
        </p:spPr>
      </p:sp>
      <p:grpSp>
        <p:nvGrpSpPr>
          <p:cNvPr id="85" name="Google Shape;85;g3a8fdd28cfb_0_35"/>
          <p:cNvGrpSpPr/>
          <p:nvPr/>
        </p:nvGrpSpPr>
        <p:grpSpPr>
          <a:xfrm>
            <a:off x="1152231" y="3726929"/>
            <a:ext cx="8306015" cy="1305178"/>
            <a:chOff x="0" y="0"/>
            <a:chExt cx="11074687" cy="1740238"/>
          </a:xfrm>
        </p:grpSpPr>
        <p:sp>
          <p:nvSpPr>
            <p:cNvPr id="86" name="Google Shape;86;g3a8fdd28cfb_0_35"/>
            <p:cNvSpPr/>
            <p:nvPr/>
          </p:nvSpPr>
          <p:spPr>
            <a:xfrm>
              <a:off x="0" y="0"/>
              <a:ext cx="5877821" cy="1624416"/>
            </a:xfrm>
            <a:custGeom>
              <a:rect b="b" l="l" r="r" t="t"/>
              <a:pathLst>
                <a:path extrusionOk="0" h="1624416" w="5877821">
                  <a:moveTo>
                    <a:pt x="0" y="0"/>
                  </a:moveTo>
                  <a:lnTo>
                    <a:pt x="5877821" y="0"/>
                  </a:lnTo>
                  <a:lnTo>
                    <a:pt x="5877821" y="1624416"/>
                  </a:lnTo>
                  <a:lnTo>
                    <a:pt x="0" y="16244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7" name="Google Shape;87;g3a8fdd28cfb_0_35"/>
            <p:cNvSpPr/>
            <p:nvPr/>
          </p:nvSpPr>
          <p:spPr>
            <a:xfrm rot="10800000">
              <a:off x="5196866" y="115822"/>
              <a:ext cx="5877821" cy="1624416"/>
            </a:xfrm>
            <a:custGeom>
              <a:rect b="b" l="l" r="r" t="t"/>
              <a:pathLst>
                <a:path extrusionOk="0" h="1624416" w="5877821">
                  <a:moveTo>
                    <a:pt x="5877822" y="1624416"/>
                  </a:moveTo>
                  <a:lnTo>
                    <a:pt x="0" y="1624416"/>
                  </a:lnTo>
                  <a:lnTo>
                    <a:pt x="0" y="0"/>
                  </a:lnTo>
                  <a:lnTo>
                    <a:pt x="5877822" y="0"/>
                  </a:lnTo>
                  <a:lnTo>
                    <a:pt x="5877822" y="1624416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8" name="Google Shape;88;g3a8fdd28cfb_0_35"/>
          <p:cNvSpPr/>
          <p:nvPr/>
        </p:nvSpPr>
        <p:spPr>
          <a:xfrm>
            <a:off x="12307200" y="138500"/>
            <a:ext cx="5980800" cy="14344574"/>
          </a:xfrm>
          <a:custGeom>
            <a:rect b="b" l="l" r="r" t="t"/>
            <a:pathLst>
              <a:path extrusionOk="0" h="14344574" w="5980800">
                <a:moveTo>
                  <a:pt x="0" y="0"/>
                </a:moveTo>
                <a:lnTo>
                  <a:pt x="5980800" y="0"/>
                </a:lnTo>
                <a:lnTo>
                  <a:pt x="5980800" y="14344574"/>
                </a:lnTo>
                <a:lnTo>
                  <a:pt x="0" y="14344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g3a8fdd28cfb_0_35"/>
          <p:cNvSpPr txBox="1"/>
          <p:nvPr/>
        </p:nvSpPr>
        <p:spPr>
          <a:xfrm>
            <a:off x="2044138" y="1498456"/>
            <a:ext cx="70329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88"/>
              <a:buFont typeface="Arial"/>
              <a:buNone/>
            </a:pPr>
            <a:r>
              <a:rPr b="0" i="0" lang="en-US" sz="8588" u="none" cap="none" strike="noStrike">
                <a:solidFill>
                  <a:srgbClr val="0B0E11"/>
                </a:solidFill>
                <a:latin typeface="Arial"/>
                <a:ea typeface="Arial"/>
                <a:cs typeface="Arial"/>
                <a:sym typeface="Arial"/>
              </a:rPr>
              <a:t>UNIT: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a8fdd28cfb_0_35"/>
          <p:cNvSpPr txBox="1"/>
          <p:nvPr/>
        </p:nvSpPr>
        <p:spPr>
          <a:xfrm>
            <a:off x="703963" y="3351752"/>
            <a:ext cx="97134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0"/>
              <a:buFont typeface="Arial"/>
              <a:buNone/>
            </a:pPr>
            <a:r>
              <a:rPr b="0" i="0" lang="en-US" sz="10900" u="none" cap="none" strike="noStrike">
                <a:solidFill>
                  <a:srgbClr val="0B0E11"/>
                </a:solidFill>
                <a:latin typeface="Arial"/>
                <a:ea typeface="Arial"/>
                <a:cs typeface="Arial"/>
                <a:sym typeface="Arial"/>
              </a:rPr>
              <a:t>BIOGRAPHIES</a:t>
            </a:r>
            <a:endParaRPr b="0" i="0" sz="10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8fdd28cfb_0_35"/>
          <p:cNvSpPr txBox="1"/>
          <p:nvPr/>
        </p:nvSpPr>
        <p:spPr>
          <a:xfrm>
            <a:off x="1408174" y="6301348"/>
            <a:ext cx="8304900" cy="23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b="0" i="0" lang="en-US" sz="6249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What makes a life worth writing about?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a8fdd28cfb_0_35"/>
          <p:cNvSpPr/>
          <p:nvPr/>
        </p:nvSpPr>
        <p:spPr>
          <a:xfrm>
            <a:off x="13087703" y="4212374"/>
            <a:ext cx="5946455" cy="9965671"/>
          </a:xfrm>
          <a:custGeom>
            <a:rect b="b" l="l" r="r" t="t"/>
            <a:pathLst>
              <a:path extrusionOk="0" h="9965671" w="5946455">
                <a:moveTo>
                  <a:pt x="0" y="0"/>
                </a:moveTo>
                <a:lnTo>
                  <a:pt x="5946455" y="0"/>
                </a:lnTo>
                <a:lnTo>
                  <a:pt x="5946455" y="9965671"/>
                </a:lnTo>
                <a:lnTo>
                  <a:pt x="0" y="9965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74125" r="0" t="-55942"/>
            </a:stretch>
          </a:blipFill>
          <a:ln>
            <a:noFill/>
          </a:ln>
        </p:spPr>
      </p:sp>
      <p:sp>
        <p:nvSpPr>
          <p:cNvPr id="93" name="Google Shape;93;g3a8fdd28cfb_0_35"/>
          <p:cNvSpPr txBox="1"/>
          <p:nvPr/>
        </p:nvSpPr>
        <p:spPr>
          <a:xfrm>
            <a:off x="3849698" y="382450"/>
            <a:ext cx="31821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84930f807_0_7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0" t="0"/>
            </a:stretch>
          </a:blipFill>
          <a:ln>
            <a:noFill/>
          </a:ln>
        </p:spPr>
      </p:sp>
      <p:sp>
        <p:nvSpPr>
          <p:cNvPr id="99" name="Google Shape;99;g3984930f807_0_7"/>
          <p:cNvSpPr/>
          <p:nvPr/>
        </p:nvSpPr>
        <p:spPr>
          <a:xfrm>
            <a:off x="15532538" y="7031525"/>
            <a:ext cx="2706771" cy="1451814"/>
          </a:xfrm>
          <a:custGeom>
            <a:rect b="b" l="l" r="r" t="t"/>
            <a:pathLst>
              <a:path extrusionOk="0" h="1451814" w="2706771">
                <a:moveTo>
                  <a:pt x="0" y="0"/>
                </a:moveTo>
                <a:lnTo>
                  <a:pt x="2706771" y="0"/>
                </a:lnTo>
                <a:lnTo>
                  <a:pt x="2706771" y="1451814"/>
                </a:lnTo>
                <a:lnTo>
                  <a:pt x="0" y="1451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g3984930f807_0_7"/>
          <p:cNvSpPr/>
          <p:nvPr/>
        </p:nvSpPr>
        <p:spPr>
          <a:xfrm>
            <a:off x="15779690" y="7175364"/>
            <a:ext cx="2944231" cy="2289637"/>
          </a:xfrm>
          <a:custGeom>
            <a:rect b="b" l="l" r="r" t="t"/>
            <a:pathLst>
              <a:path extrusionOk="0" h="2289637" w="2944231">
                <a:moveTo>
                  <a:pt x="0" y="0"/>
                </a:moveTo>
                <a:lnTo>
                  <a:pt x="2944231" y="0"/>
                </a:lnTo>
                <a:lnTo>
                  <a:pt x="2944231" y="2289637"/>
                </a:lnTo>
                <a:lnTo>
                  <a:pt x="0" y="228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g3984930f807_0_7"/>
          <p:cNvSpPr txBox="1"/>
          <p:nvPr/>
        </p:nvSpPr>
        <p:spPr>
          <a:xfrm>
            <a:off x="1289300" y="2697479"/>
            <a:ext cx="163953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0"/>
              <a:buFont typeface="Arial"/>
              <a:buNone/>
            </a:pPr>
            <a:r>
              <a:t/>
            </a:r>
            <a:endParaRPr b="0" i="0" sz="3110" u="sng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0"/>
              <a:buFont typeface="Arial"/>
              <a:buNone/>
            </a:pPr>
            <a:r>
              <a:t/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  <p:pic>
        <p:nvPicPr>
          <p:cNvPr id="102" name="Google Shape;102;g3984930f807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725" y="965624"/>
            <a:ext cx="15059825" cy="807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984930f807_0_7"/>
          <p:cNvSpPr txBox="1"/>
          <p:nvPr/>
        </p:nvSpPr>
        <p:spPr>
          <a:xfrm>
            <a:off x="874275" y="0"/>
            <a:ext cx="140931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rPr b="1" i="0" lang="en-US" sz="3609" u="sng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Modelling: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8faf7270f_0_1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7" r="-12837" t="0"/>
            </a:stretch>
          </a:blipFill>
          <a:ln>
            <a:noFill/>
          </a:ln>
        </p:spPr>
      </p:sp>
      <p:sp>
        <p:nvSpPr>
          <p:cNvPr id="109" name="Google Shape;109;g3a8faf7270f_0_1"/>
          <p:cNvSpPr/>
          <p:nvPr/>
        </p:nvSpPr>
        <p:spPr>
          <a:xfrm>
            <a:off x="15532538" y="7031525"/>
            <a:ext cx="2706771" cy="1451814"/>
          </a:xfrm>
          <a:custGeom>
            <a:rect b="b" l="l" r="r" t="t"/>
            <a:pathLst>
              <a:path extrusionOk="0" h="1451814" w="2706771">
                <a:moveTo>
                  <a:pt x="0" y="0"/>
                </a:moveTo>
                <a:lnTo>
                  <a:pt x="2706771" y="0"/>
                </a:lnTo>
                <a:lnTo>
                  <a:pt x="2706771" y="1451814"/>
                </a:lnTo>
                <a:lnTo>
                  <a:pt x="0" y="1451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g3a8faf7270f_0_1"/>
          <p:cNvSpPr/>
          <p:nvPr/>
        </p:nvSpPr>
        <p:spPr>
          <a:xfrm>
            <a:off x="15779690" y="7175364"/>
            <a:ext cx="2944231" cy="2289637"/>
          </a:xfrm>
          <a:custGeom>
            <a:rect b="b" l="l" r="r" t="t"/>
            <a:pathLst>
              <a:path extrusionOk="0" h="2289637" w="2944231">
                <a:moveTo>
                  <a:pt x="0" y="0"/>
                </a:moveTo>
                <a:lnTo>
                  <a:pt x="2944231" y="0"/>
                </a:lnTo>
                <a:lnTo>
                  <a:pt x="2944231" y="2289637"/>
                </a:lnTo>
                <a:lnTo>
                  <a:pt x="0" y="228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g3a8faf7270f_0_1"/>
          <p:cNvSpPr txBox="1"/>
          <p:nvPr/>
        </p:nvSpPr>
        <p:spPr>
          <a:xfrm>
            <a:off x="1289300" y="2697479"/>
            <a:ext cx="163953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0"/>
              <a:buFont typeface="Arial"/>
              <a:buNone/>
            </a:pPr>
            <a:r>
              <a:t/>
            </a:r>
            <a:endParaRPr b="0" i="0" sz="3110" u="sng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0"/>
              <a:buFont typeface="Arial"/>
              <a:buNone/>
            </a:pPr>
            <a:r>
              <a:t/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  <p:graphicFrame>
        <p:nvGraphicFramePr>
          <p:cNvPr id="112" name="Google Shape;112;g3a8faf7270f_0_1"/>
          <p:cNvGraphicFramePr/>
          <p:nvPr/>
        </p:nvGraphicFramePr>
        <p:xfrm>
          <a:off x="311700" y="6185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{D1AB3254-84AD-4EA0-B43E-EF3C8DC357E3}</a:tableStyleId>
              </a:tblPr>
              <a:tblGrid>
                <a:gridCol w="5035025"/>
                <a:gridCol w="5035025"/>
                <a:gridCol w="5035025"/>
              </a:tblGrid>
              <a:tr h="94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3100" u="none" cap="none" strike="noStrike"/>
                        <a:t>PERSON </a:t>
                      </a:r>
                      <a:endParaRPr b="1" sz="3100" u="none" cap="none" strike="noStrike"/>
                    </a:p>
                  </a:txBody>
                  <a:tcPr marT="91425" marB="91425" marR="91425" marL="91425"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3100" u="none" cap="none" strike="noStrike"/>
                        <a:t>What they are famous for? </a:t>
                      </a:r>
                      <a:endParaRPr b="1" sz="3100" u="none" cap="none" strike="noStrike"/>
                    </a:p>
                  </a:txBody>
                  <a:tcPr marT="91425" marB="91425" marR="91425" marL="91425"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3100" u="none" cap="none" strike="noStrike"/>
                        <a:t>Biography Title</a:t>
                      </a:r>
                      <a:endParaRPr b="1" sz="3100" u="none" cap="none" strike="noStrike"/>
                    </a:p>
                  </a:txBody>
                  <a:tcPr marT="91425" marB="91425" marR="91425" marL="91425">
                    <a:solidFill>
                      <a:srgbClr val="FFAB40"/>
                    </a:solidFill>
                  </a:tcPr>
                </a:tc>
              </a:tr>
              <a:tr h="114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Helen keller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3100" u="none" cap="none" strike="noStrike"/>
                        <a:t>First person with deafblindness to earn a college degree. 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The Story of My Life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</a:tr>
              <a:tr h="91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Dr. Suess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Children’s author 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Becoming Dr. Suess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</a:tr>
              <a:tr h="91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Christopher Columbus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A famous explorer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Across the Ocean Sea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</a:tr>
              <a:tr h="91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Martin Luther King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Civil Rights Leader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Martin Luther King, Jr.: A Life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</a:tr>
              <a:tr h="127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Malala yousafzai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Child rights activist - Women’s right to education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I am Malala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</a:tr>
              <a:tr h="117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Usain Bolt 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Fastest Runner 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The fastest Man Alive - The true Story of Usain Bolt 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</a:tr>
              <a:tr h="91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Dr Abdul Kalam Azad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Scientist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100" u="none" cap="none" strike="noStrike"/>
                        <a:t>Wings of Fire</a:t>
                      </a:r>
                      <a:endParaRPr sz="3100" u="none" cap="none" strike="noStrike"/>
                    </a:p>
                  </a:txBody>
                  <a:tcPr marT="91425" marB="91425" marR="91425" marL="91425"/>
                </a:tc>
              </a:tr>
              <a:tr h="91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8faf7270f_0_10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7" r="-12837" t="0"/>
            </a:stretch>
          </a:blipFill>
          <a:ln>
            <a:noFill/>
          </a:ln>
        </p:spPr>
      </p:sp>
      <p:sp>
        <p:nvSpPr>
          <p:cNvPr id="118" name="Google Shape;118;g3a8faf7270f_0_10"/>
          <p:cNvSpPr/>
          <p:nvPr/>
        </p:nvSpPr>
        <p:spPr>
          <a:xfrm>
            <a:off x="15532538" y="7031525"/>
            <a:ext cx="2706771" cy="1451814"/>
          </a:xfrm>
          <a:custGeom>
            <a:rect b="b" l="l" r="r" t="t"/>
            <a:pathLst>
              <a:path extrusionOk="0" h="1451814" w="2706771">
                <a:moveTo>
                  <a:pt x="0" y="0"/>
                </a:moveTo>
                <a:lnTo>
                  <a:pt x="2706771" y="0"/>
                </a:lnTo>
                <a:lnTo>
                  <a:pt x="2706771" y="1451814"/>
                </a:lnTo>
                <a:lnTo>
                  <a:pt x="0" y="1451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g3a8faf7270f_0_10"/>
          <p:cNvSpPr txBox="1"/>
          <p:nvPr/>
        </p:nvSpPr>
        <p:spPr>
          <a:xfrm>
            <a:off x="1289300" y="2697479"/>
            <a:ext cx="163953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0"/>
              <a:buFont typeface="Arial"/>
              <a:buNone/>
            </a:pPr>
            <a:r>
              <a:t/>
            </a:r>
            <a:endParaRPr b="0" i="0" sz="3110" u="sng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0"/>
              <a:buFont typeface="Arial"/>
              <a:buNone/>
            </a:pPr>
            <a:r>
              <a:t/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  <p:pic>
        <p:nvPicPr>
          <p:cNvPr id="120" name="Google Shape;120;g3a8faf7270f_0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750" y="1021754"/>
            <a:ext cx="16395301" cy="857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84930f807_0_35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0" t="0"/>
            </a:stretch>
          </a:blipFill>
          <a:ln>
            <a:noFill/>
          </a:ln>
        </p:spPr>
      </p:sp>
      <p:sp>
        <p:nvSpPr>
          <p:cNvPr id="126" name="Google Shape;126;g3984930f807_0_35"/>
          <p:cNvSpPr/>
          <p:nvPr/>
        </p:nvSpPr>
        <p:spPr>
          <a:xfrm>
            <a:off x="15532538" y="7031525"/>
            <a:ext cx="2706771" cy="1451814"/>
          </a:xfrm>
          <a:custGeom>
            <a:rect b="b" l="l" r="r" t="t"/>
            <a:pathLst>
              <a:path extrusionOk="0" h="1451814" w="2706771">
                <a:moveTo>
                  <a:pt x="0" y="0"/>
                </a:moveTo>
                <a:lnTo>
                  <a:pt x="2706771" y="0"/>
                </a:lnTo>
                <a:lnTo>
                  <a:pt x="2706771" y="1451814"/>
                </a:lnTo>
                <a:lnTo>
                  <a:pt x="0" y="1451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g3984930f807_0_35"/>
          <p:cNvSpPr/>
          <p:nvPr/>
        </p:nvSpPr>
        <p:spPr>
          <a:xfrm>
            <a:off x="15779690" y="7175364"/>
            <a:ext cx="2944231" cy="2289637"/>
          </a:xfrm>
          <a:custGeom>
            <a:rect b="b" l="l" r="r" t="t"/>
            <a:pathLst>
              <a:path extrusionOk="0" h="2289637" w="2944231">
                <a:moveTo>
                  <a:pt x="0" y="0"/>
                </a:moveTo>
                <a:lnTo>
                  <a:pt x="2944231" y="0"/>
                </a:lnTo>
                <a:lnTo>
                  <a:pt x="2944231" y="2289637"/>
                </a:lnTo>
                <a:lnTo>
                  <a:pt x="0" y="228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g3984930f807_0_35"/>
          <p:cNvSpPr txBox="1"/>
          <p:nvPr/>
        </p:nvSpPr>
        <p:spPr>
          <a:xfrm>
            <a:off x="473650" y="356675"/>
            <a:ext cx="17518800" cy="106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rPr b="0" i="0" lang="en-US" sz="3110" u="sng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Unit: What makes a life worth writing about?</a:t>
            </a:r>
            <a:endParaRPr b="0" i="0" sz="3110" u="sng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rPr b="0" i="0" lang="en-US" sz="3110" u="sng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Learning objective: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110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To read in groups and analyze the text to identify the conventions of a biography.</a:t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t/>
            </a:r>
            <a:endParaRPr sz="311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rPr b="0" i="0" lang="en-US" sz="3110" u="sng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Group activity</a:t>
            </a:r>
            <a:r>
              <a:rPr b="0" i="0" lang="en-US" sz="3110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 - write the given questions in your journals.Read the text (in the link below) as a group, analyse the text, discuss the answers and write the answers in your journals.</a:t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110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What information is provided here? What do they add to the biography?</a:t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110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Why have these key events been included? What impact do they have on the readers?</a:t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110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What do we learn about his achievements?</a:t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110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Why does Abdi deserve a biography?</a:t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110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Comment on the structure of the biography. </a:t>
            </a:r>
            <a:endParaRPr sz="311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rPr b="0" i="0" lang="en-US" sz="3110" u="sng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Link for the Text: </a:t>
            </a:r>
            <a:r>
              <a:rPr b="0" i="0" lang="en-US" sz="3110" u="sng" cap="none" strike="noStrike">
                <a:solidFill>
                  <a:schemeClr val="hlink"/>
                </a:solidFill>
                <a:latin typeface="Gochi Hand"/>
                <a:ea typeface="Gochi Hand"/>
                <a:cs typeface="Gochi Hand"/>
                <a:sym typeface="Gochi Hand"/>
                <a:hlinkClick r:id="rId6"/>
              </a:rPr>
              <a:t>https://docs.google.com/document/d/18Ia2tv3r55IVA22uPAT2jFWnPZdu_ARV/edit?usp=drive_link&amp;ouid=112926585890473367957&amp;rtpof=true&amp;sd=true</a:t>
            </a:r>
            <a:endParaRPr sz="3110" u="sng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t/>
            </a:r>
            <a:endParaRPr sz="3110" u="sng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t/>
            </a:r>
            <a:endParaRPr b="0" i="0" sz="3110" u="sng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0"/>
              <a:buFont typeface="Arial"/>
              <a:buNone/>
            </a:pPr>
            <a:r>
              <a:t/>
            </a:r>
            <a:endParaRPr b="0" i="0" sz="311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fdd28cfb_0_136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47" r="-12845" t="0"/>
            </a:stretch>
          </a:blipFill>
          <a:ln>
            <a:noFill/>
          </a:ln>
        </p:spPr>
      </p:sp>
      <p:sp>
        <p:nvSpPr>
          <p:cNvPr id="134" name="Google Shape;134;g3a8fdd28cfb_0_136"/>
          <p:cNvSpPr/>
          <p:nvPr/>
        </p:nvSpPr>
        <p:spPr>
          <a:xfrm>
            <a:off x="2226781" y="3560558"/>
            <a:ext cx="3514317" cy="1884952"/>
          </a:xfrm>
          <a:custGeom>
            <a:rect b="b" l="l" r="r" t="t"/>
            <a:pathLst>
              <a:path extrusionOk="0" h="1884952" w="3514317">
                <a:moveTo>
                  <a:pt x="0" y="0"/>
                </a:moveTo>
                <a:lnTo>
                  <a:pt x="3514316" y="0"/>
                </a:lnTo>
                <a:lnTo>
                  <a:pt x="3514316" y="1884952"/>
                </a:lnTo>
                <a:lnTo>
                  <a:pt x="0" y="1884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g3a8fdd28cfb_0_136"/>
          <p:cNvSpPr/>
          <p:nvPr/>
        </p:nvSpPr>
        <p:spPr>
          <a:xfrm>
            <a:off x="2904746" y="3451312"/>
            <a:ext cx="2158385" cy="2103445"/>
          </a:xfrm>
          <a:custGeom>
            <a:rect b="b" l="l" r="r" t="t"/>
            <a:pathLst>
              <a:path extrusionOk="0" h="2103445" w="2158385">
                <a:moveTo>
                  <a:pt x="0" y="0"/>
                </a:moveTo>
                <a:lnTo>
                  <a:pt x="2158386" y="0"/>
                </a:lnTo>
                <a:lnTo>
                  <a:pt x="2158386" y="2103444"/>
                </a:lnTo>
                <a:lnTo>
                  <a:pt x="0" y="2103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g3a8fdd28cfb_0_136"/>
          <p:cNvSpPr txBox="1"/>
          <p:nvPr/>
        </p:nvSpPr>
        <p:spPr>
          <a:xfrm>
            <a:off x="3541496" y="1130198"/>
            <a:ext cx="1120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sng" cap="none" strike="noStrike">
                <a:solidFill>
                  <a:srgbClr val="0B0E11"/>
                </a:solidFill>
                <a:latin typeface="Arial"/>
                <a:ea typeface="Arial"/>
                <a:cs typeface="Arial"/>
                <a:sym typeface="Arial"/>
              </a:rPr>
              <a:t>LEARNING EXTENSION</a:t>
            </a:r>
            <a:endParaRPr b="1" i="0" sz="40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a8fdd28cfb_0_136"/>
          <p:cNvSpPr txBox="1"/>
          <p:nvPr/>
        </p:nvSpPr>
        <p:spPr>
          <a:xfrm>
            <a:off x="1610428" y="6380443"/>
            <a:ext cx="156489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rPr b="0" i="0" lang="en-US" sz="3509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Refer to the Drive to complete the Biography Learning extension.</a:t>
            </a:r>
            <a:endParaRPr b="0" i="0" sz="3509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rPr b="0" i="0" lang="en-US" sz="3509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For teacher’s reference: </a:t>
            </a:r>
            <a:r>
              <a:rPr b="0" i="0" lang="en-US" sz="3509" u="sng" cap="none" strike="noStrike">
                <a:solidFill>
                  <a:schemeClr val="hlink"/>
                </a:solidFill>
                <a:latin typeface="Gochi Hand"/>
                <a:ea typeface="Gochi Hand"/>
                <a:cs typeface="Gochi Hand"/>
                <a:sym typeface="Gochi Hand"/>
                <a:hlinkClick r:id="rId6"/>
              </a:rPr>
              <a:t>https://docs.google.com/document/d/1rr9461s693GhbgJRq69PJBT4ZPqTo6VN/edit?usp=drive_link&amp;ouid=112926585890473367957&amp;rtpof=true&amp;sd=true</a:t>
            </a:r>
            <a:endParaRPr b="0" i="0" sz="3509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18"/>
              <a:buFont typeface="Arial"/>
              <a:buNone/>
            </a:pPr>
            <a:r>
              <a:t/>
            </a:r>
            <a:endParaRPr b="0" i="0" sz="4218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  <p:grpSp>
        <p:nvGrpSpPr>
          <p:cNvPr id="138" name="Google Shape;138;g3a8fdd28cfb_0_136"/>
          <p:cNvGrpSpPr/>
          <p:nvPr/>
        </p:nvGrpSpPr>
        <p:grpSpPr>
          <a:xfrm>
            <a:off x="2057972" y="5600046"/>
            <a:ext cx="3852335" cy="760899"/>
            <a:chOff x="0" y="-47625"/>
            <a:chExt cx="1014600" cy="200400"/>
          </a:xfrm>
        </p:grpSpPr>
        <p:sp>
          <p:nvSpPr>
            <p:cNvPr id="139" name="Google Shape;139;g3a8fdd28cfb_0_136"/>
            <p:cNvSpPr/>
            <p:nvPr/>
          </p:nvSpPr>
          <p:spPr>
            <a:xfrm>
              <a:off x="0" y="0"/>
              <a:ext cx="1014501" cy="152645"/>
            </a:xfrm>
            <a:custGeom>
              <a:rect b="b" l="l" r="r" t="t"/>
              <a:pathLst>
                <a:path extrusionOk="0" h="152645" w="1014501">
                  <a:moveTo>
                    <a:pt x="0" y="0"/>
                  </a:moveTo>
                  <a:lnTo>
                    <a:pt x="1014501" y="0"/>
                  </a:lnTo>
                  <a:lnTo>
                    <a:pt x="1014501" y="152645"/>
                  </a:lnTo>
                  <a:lnTo>
                    <a:pt x="0" y="152645"/>
                  </a:lnTo>
                  <a:close/>
                </a:path>
              </a:pathLst>
            </a:custGeom>
            <a:solidFill>
              <a:srgbClr val="000102"/>
            </a:solidFill>
            <a:ln>
              <a:noFill/>
            </a:ln>
          </p:spPr>
        </p:sp>
        <p:sp>
          <p:nvSpPr>
            <p:cNvPr id="140" name="Google Shape;140;g3a8fdd28cfb_0_136"/>
            <p:cNvSpPr txBox="1"/>
            <p:nvPr/>
          </p:nvSpPr>
          <p:spPr>
            <a:xfrm>
              <a:off x="0" y="-47625"/>
              <a:ext cx="10146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FFFFFF"/>
                  </a:solidFill>
                  <a:latin typeface="Gochi Hand"/>
                  <a:ea typeface="Gochi Hand"/>
                  <a:cs typeface="Gochi Hand"/>
                  <a:sym typeface="Gochi Hand"/>
                </a:rPr>
                <a:t>Biography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g3a8fdd28cfb_0_136"/>
          <p:cNvSpPr/>
          <p:nvPr/>
        </p:nvSpPr>
        <p:spPr>
          <a:xfrm rot="6392090">
            <a:off x="15058486" y="-1383296"/>
            <a:ext cx="3401380" cy="5406775"/>
          </a:xfrm>
          <a:custGeom>
            <a:rect b="b" l="l" r="r" t="t"/>
            <a:pathLst>
              <a:path extrusionOk="0" h="5399154" w="3396586">
                <a:moveTo>
                  <a:pt x="0" y="0"/>
                </a:moveTo>
                <a:lnTo>
                  <a:pt x="3396586" y="0"/>
                </a:lnTo>
                <a:lnTo>
                  <a:pt x="3396586" y="5399153"/>
                </a:lnTo>
                <a:lnTo>
                  <a:pt x="0" y="5399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7547" l="-167919" r="-95479" t="-24866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42" r="-12841" t="0"/>
            </a:stretch>
          </a:blipFill>
          <a:ln>
            <a:noFill/>
          </a:ln>
        </p:spPr>
      </p:sp>
      <p:sp>
        <p:nvSpPr>
          <p:cNvPr id="147" name="Google Shape;147;p11"/>
          <p:cNvSpPr/>
          <p:nvPr/>
        </p:nvSpPr>
        <p:spPr>
          <a:xfrm rot="1674621">
            <a:off x="15194689" y="-248019"/>
            <a:ext cx="4129223" cy="2214765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1"/>
          <p:cNvSpPr/>
          <p:nvPr/>
        </p:nvSpPr>
        <p:spPr>
          <a:xfrm rot="1674621">
            <a:off x="-1372806" y="9011916"/>
            <a:ext cx="4129223" cy="2214765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9" name="Google Shape;14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5025" y="1137875"/>
            <a:ext cx="11873902" cy="824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eaee72587cd156_0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55" name="Google Shape;155;g32eaee72587cd156_0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g32eaee72587cd156_0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7" name="Google Shape;157;g32eaee72587cd156_0"/>
          <p:cNvPicPr preferRelativeResize="0"/>
          <p:nvPr/>
        </p:nvPicPr>
        <p:blipFill rotWithShape="1">
          <a:blip r:embed="rId5">
            <a:alphaModFix/>
          </a:blip>
          <a:srcRect b="44037" l="0" r="0" t="0"/>
          <a:stretch/>
        </p:blipFill>
        <p:spPr>
          <a:xfrm>
            <a:off x="1004775" y="1203425"/>
            <a:ext cx="8537625" cy="618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2eaee72587cd156_0"/>
          <p:cNvPicPr preferRelativeResize="0"/>
          <p:nvPr/>
        </p:nvPicPr>
        <p:blipFill rotWithShape="1">
          <a:blip r:embed="rId5">
            <a:alphaModFix/>
          </a:blip>
          <a:srcRect b="0" l="0" r="0" t="55253"/>
          <a:stretch/>
        </p:blipFill>
        <p:spPr>
          <a:xfrm>
            <a:off x="9542400" y="2556150"/>
            <a:ext cx="8343599" cy="4834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8745752791546d_0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64" name="Google Shape;164;g138745752791546d_0"/>
          <p:cNvSpPr/>
          <p:nvPr/>
        </p:nvSpPr>
        <p:spPr>
          <a:xfrm rot="5400000">
            <a:off x="3872143" y="-4316380"/>
            <a:ext cx="10526202" cy="18919762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g138745752791546d_0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g138745752791546d_0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7" name="Google Shape;167;g138745752791546d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4243" y="1019049"/>
            <a:ext cx="14163699" cy="824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138745752791546d_0"/>
          <p:cNvPicPr preferRelativeResize="0"/>
          <p:nvPr/>
        </p:nvPicPr>
        <p:blipFill rotWithShape="1">
          <a:blip r:embed="rId7">
            <a:alphaModFix/>
          </a:blip>
          <a:srcRect b="0" l="2114" r="0" t="0"/>
          <a:stretch/>
        </p:blipFill>
        <p:spPr>
          <a:xfrm>
            <a:off x="10191775" y="2616425"/>
            <a:ext cx="5001774" cy="650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38745752791546d_9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74" name="Google Shape;174;g138745752791546d_9"/>
          <p:cNvSpPr/>
          <p:nvPr/>
        </p:nvSpPr>
        <p:spPr>
          <a:xfrm rot="5400000">
            <a:off x="3872143" y="-4316380"/>
            <a:ext cx="10526202" cy="18919762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g138745752791546d_9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g138745752791546d_9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g138745752791546d_9"/>
          <p:cNvSpPr txBox="1"/>
          <p:nvPr/>
        </p:nvSpPr>
        <p:spPr>
          <a:xfrm>
            <a:off x="2590838" y="2214603"/>
            <a:ext cx="14477100" cy="29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99"/>
              <a:buFont typeface="Arial"/>
              <a:buNone/>
            </a:pPr>
            <a:r>
              <a:rPr b="1" lang="en-US" sz="5199">
                <a:solidFill>
                  <a:schemeClr val="dk1"/>
                </a:solidFill>
              </a:rPr>
              <a:t>Day 3</a:t>
            </a:r>
            <a:endParaRPr sz="41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41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Revision on Formal and Informal English Language</a:t>
            </a:r>
            <a:endParaRPr sz="41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41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To be copied in the journals.</a:t>
            </a:r>
            <a:endParaRPr sz="41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  <p:pic>
        <p:nvPicPr>
          <p:cNvPr id="178" name="Google Shape;178;g138745752791546d_9"/>
          <p:cNvPicPr preferRelativeResize="0"/>
          <p:nvPr/>
        </p:nvPicPr>
        <p:blipFill rotWithShape="1">
          <a:blip r:embed="rId6">
            <a:alphaModFix/>
          </a:blip>
          <a:srcRect b="57132" l="2200" r="0" t="17088"/>
          <a:stretch/>
        </p:blipFill>
        <p:spPr>
          <a:xfrm>
            <a:off x="2459800" y="5863799"/>
            <a:ext cx="14477101" cy="265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38745752791546d_18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84" name="Google Shape;184;g138745752791546d_18"/>
          <p:cNvSpPr/>
          <p:nvPr/>
        </p:nvSpPr>
        <p:spPr>
          <a:xfrm rot="5400000">
            <a:off x="3872143" y="-4316380"/>
            <a:ext cx="10526202" cy="18919762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g138745752791546d_18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g138745752791546d_18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g138745752791546d_18"/>
          <p:cNvSpPr txBox="1"/>
          <p:nvPr/>
        </p:nvSpPr>
        <p:spPr>
          <a:xfrm>
            <a:off x="3029749" y="1986000"/>
            <a:ext cx="140289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t/>
            </a:r>
            <a:endParaRPr sz="41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t/>
            </a:r>
            <a:endParaRPr sz="41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  <p:pic>
        <p:nvPicPr>
          <p:cNvPr id="188" name="Google Shape;188;g138745752791546d_18"/>
          <p:cNvPicPr preferRelativeResize="0"/>
          <p:nvPr/>
        </p:nvPicPr>
        <p:blipFill rotWithShape="1">
          <a:blip r:embed="rId6">
            <a:alphaModFix/>
          </a:blip>
          <a:srcRect b="9214" l="2353" r="0" t="16474"/>
          <a:stretch/>
        </p:blipFill>
        <p:spPr>
          <a:xfrm>
            <a:off x="1548450" y="1042412"/>
            <a:ext cx="15510197" cy="8202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38745752791546d_27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94" name="Google Shape;194;g138745752791546d_27"/>
          <p:cNvSpPr/>
          <p:nvPr/>
        </p:nvSpPr>
        <p:spPr>
          <a:xfrm rot="5400000">
            <a:off x="3872143" y="-4316380"/>
            <a:ext cx="10526202" cy="18919762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g138745752791546d_27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g138745752791546d_27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7" name="Google Shape;197;g138745752791546d_27"/>
          <p:cNvPicPr preferRelativeResize="0"/>
          <p:nvPr/>
        </p:nvPicPr>
        <p:blipFill rotWithShape="1">
          <a:blip r:embed="rId6">
            <a:alphaModFix/>
          </a:blip>
          <a:srcRect b="20537" l="1361" r="0" t="17715"/>
          <a:stretch/>
        </p:blipFill>
        <p:spPr>
          <a:xfrm>
            <a:off x="1303800" y="1392400"/>
            <a:ext cx="15879148" cy="70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38745752791546d_35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203" name="Google Shape;203;g138745752791546d_35"/>
          <p:cNvSpPr/>
          <p:nvPr/>
        </p:nvSpPr>
        <p:spPr>
          <a:xfrm rot="5400000">
            <a:off x="3872143" y="-4316380"/>
            <a:ext cx="10526202" cy="18919762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g138745752791546d_35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g138745752791546d_35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6" name="Google Shape;206;g138745752791546d_35"/>
          <p:cNvPicPr preferRelativeResize="0"/>
          <p:nvPr/>
        </p:nvPicPr>
        <p:blipFill rotWithShape="1">
          <a:blip r:embed="rId6">
            <a:alphaModFix/>
          </a:blip>
          <a:srcRect b="8862" l="1603" r="0" t="19668"/>
          <a:stretch/>
        </p:blipFill>
        <p:spPr>
          <a:xfrm>
            <a:off x="1861425" y="1467613"/>
            <a:ext cx="14565147" cy="735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38745752791546d_43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212" name="Google Shape;212;g138745752791546d_43"/>
          <p:cNvSpPr/>
          <p:nvPr/>
        </p:nvSpPr>
        <p:spPr>
          <a:xfrm rot="5400000">
            <a:off x="3872143" y="-4316380"/>
            <a:ext cx="10526202" cy="18919762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g138745752791546d_43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g138745752791546d_43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5" name="Google Shape;215;g138745752791546d_43"/>
          <p:cNvPicPr preferRelativeResize="0"/>
          <p:nvPr/>
        </p:nvPicPr>
        <p:blipFill rotWithShape="1">
          <a:blip r:embed="rId6">
            <a:alphaModFix/>
          </a:blip>
          <a:srcRect b="8956" l="1179" r="1354" t="14426"/>
          <a:stretch/>
        </p:blipFill>
        <p:spPr>
          <a:xfrm>
            <a:off x="2117625" y="1483825"/>
            <a:ext cx="14428002" cy="7882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8745752791546d_51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221" name="Google Shape;221;g138745752791546d_51"/>
          <p:cNvSpPr/>
          <p:nvPr/>
        </p:nvSpPr>
        <p:spPr>
          <a:xfrm rot="5400000">
            <a:off x="3872143" y="-4316380"/>
            <a:ext cx="10526202" cy="18919762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g138745752791546d_51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g138745752791546d_51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4" name="Google Shape;224;g138745752791546d_51"/>
          <p:cNvPicPr preferRelativeResize="0"/>
          <p:nvPr/>
        </p:nvPicPr>
        <p:blipFill rotWithShape="1">
          <a:blip r:embed="rId6">
            <a:alphaModFix/>
          </a:blip>
          <a:srcRect b="62406" l="2229" r="0" t="24023"/>
          <a:stretch/>
        </p:blipFill>
        <p:spPr>
          <a:xfrm>
            <a:off x="1441850" y="2839618"/>
            <a:ext cx="15953724" cy="1538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138745752791546d_51"/>
          <p:cNvPicPr preferRelativeResize="0"/>
          <p:nvPr/>
        </p:nvPicPr>
        <p:blipFill rotWithShape="1">
          <a:blip r:embed="rId6">
            <a:alphaModFix/>
          </a:blip>
          <a:srcRect b="16865" l="2229" r="0" t="50011"/>
          <a:stretch/>
        </p:blipFill>
        <p:spPr>
          <a:xfrm>
            <a:off x="1441838" y="4418630"/>
            <a:ext cx="15953747" cy="375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38745752791546d_60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231" name="Google Shape;231;g138745752791546d_60"/>
          <p:cNvSpPr/>
          <p:nvPr/>
        </p:nvSpPr>
        <p:spPr>
          <a:xfrm rot="5400000">
            <a:off x="3872143" y="-4316380"/>
            <a:ext cx="10526202" cy="18919762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g138745752791546d_60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g138745752791546d_60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g138745752791546d_60"/>
          <p:cNvSpPr txBox="1"/>
          <p:nvPr/>
        </p:nvSpPr>
        <p:spPr>
          <a:xfrm>
            <a:off x="2300506" y="1054072"/>
            <a:ext cx="14740200" cy="83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99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Answers</a:t>
            </a:r>
            <a:endParaRPr b="1"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1. Malala has made many meaningful contributions.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1. Malala accomplished numerous significant achievements.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1. Malala has achieved a great deal through her work.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2. I am confident that your journey will be remarkable.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2. I am confident that your journey will be a rewarding one.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2. I believe your journey will be both successful and fulfilling.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3. She did nothing to harm them.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3. She never caused them any harm.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3. She took no action against them.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t/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t/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01535566f60c1d_0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240" name="Google Shape;240;g3101535566f60c1d_0"/>
          <p:cNvSpPr/>
          <p:nvPr/>
        </p:nvSpPr>
        <p:spPr>
          <a:xfrm rot="5400000">
            <a:off x="3872143" y="-4316380"/>
            <a:ext cx="10526202" cy="18919762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g3101535566f60c1d_0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g3101535566f60c1d_0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g3101535566f60c1d_0"/>
          <p:cNvSpPr txBox="1"/>
          <p:nvPr/>
        </p:nvSpPr>
        <p:spPr>
          <a:xfrm>
            <a:off x="1422682" y="1351044"/>
            <a:ext cx="14740200" cy="42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99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Simple, Compound, and Complex Sentences</a:t>
            </a:r>
            <a:endParaRPr b="1"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Link : </a:t>
            </a:r>
            <a:r>
              <a:rPr lang="en-US" sz="3200" u="sng">
                <a:solidFill>
                  <a:schemeClr val="hlink"/>
                </a:solidFill>
                <a:latin typeface="Gochi Hand"/>
                <a:ea typeface="Gochi Hand"/>
                <a:cs typeface="Gochi Hand"/>
                <a:sym typeface="Gochi Hand"/>
                <a:hlinkClick r:id="rId6"/>
              </a:rPr>
              <a:t>https://yout-u.be/smgyeUomfyA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99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Compound-Complex Sentences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lang="en-US" sz="3200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Link: </a:t>
            </a:r>
            <a:r>
              <a:rPr lang="en-US" sz="3200" u="sng">
                <a:solidFill>
                  <a:schemeClr val="hlink"/>
                </a:solidFill>
                <a:latin typeface="Gochi Hand"/>
                <a:ea typeface="Gochi Hand"/>
                <a:cs typeface="Gochi Hand"/>
                <a:sym typeface="Gochi Hand"/>
                <a:hlinkClick r:id="rId7"/>
              </a:rPr>
              <a:t>https://yout-u.be/eN2NMvUrtP0?si=tJRFgr6bdUiaD6l_</a:t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t/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t/>
            </a:r>
            <a:endParaRPr sz="3200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6ce64cbc1e297ab0_0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249" name="Google Shape;249;g6ce64cbc1e297ab0_0"/>
          <p:cNvSpPr/>
          <p:nvPr/>
        </p:nvSpPr>
        <p:spPr>
          <a:xfrm rot="5400000">
            <a:off x="2874455" y="1097068"/>
            <a:ext cx="6791098" cy="9531366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g6ce64cbc1e297ab0_0"/>
          <p:cNvSpPr/>
          <p:nvPr/>
        </p:nvSpPr>
        <p:spPr>
          <a:xfrm rot="3748486">
            <a:off x="4986319" y="-2070217"/>
            <a:ext cx="4494629" cy="7144584"/>
          </a:xfrm>
          <a:custGeom>
            <a:rect b="b" l="l" r="r" t="t"/>
            <a:pathLst>
              <a:path extrusionOk="0" h="7139009" w="4491122">
                <a:moveTo>
                  <a:pt x="0" y="0"/>
                </a:moveTo>
                <a:lnTo>
                  <a:pt x="4491122" y="0"/>
                </a:lnTo>
                <a:lnTo>
                  <a:pt x="4491122" y="7139008"/>
                </a:lnTo>
                <a:lnTo>
                  <a:pt x="0" y="7139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7528" l="-167872" r="-95433" t="-24848"/>
            </a:stretch>
          </a:blipFill>
          <a:ln>
            <a:noFill/>
          </a:ln>
        </p:spPr>
      </p:sp>
      <p:sp>
        <p:nvSpPr>
          <p:cNvPr id="251" name="Google Shape;251;g6ce64cbc1e297ab0_0"/>
          <p:cNvSpPr/>
          <p:nvPr/>
        </p:nvSpPr>
        <p:spPr>
          <a:xfrm rot="535229">
            <a:off x="9444576" y="3943129"/>
            <a:ext cx="11442907" cy="5859722"/>
          </a:xfrm>
          <a:custGeom>
            <a:rect b="b" l="l" r="r" t="t"/>
            <a:pathLst>
              <a:path extrusionOk="0" h="5862122" w="11447594">
                <a:moveTo>
                  <a:pt x="0" y="0"/>
                </a:moveTo>
                <a:lnTo>
                  <a:pt x="11447594" y="0"/>
                </a:lnTo>
                <a:lnTo>
                  <a:pt x="11447594" y="5862122"/>
                </a:lnTo>
                <a:lnTo>
                  <a:pt x="0" y="58621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g6ce64cbc1e297ab0_0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g6ce64cbc1e297ab0_0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g6ce64cbc1e297ab0_0"/>
          <p:cNvSpPr txBox="1"/>
          <p:nvPr/>
        </p:nvSpPr>
        <p:spPr>
          <a:xfrm>
            <a:off x="2136094" y="3477512"/>
            <a:ext cx="82677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5"/>
              <a:buFont typeface="Arial"/>
              <a:buNone/>
            </a:pPr>
            <a:r>
              <a:t/>
            </a:r>
            <a:endParaRPr b="0" i="0" sz="8175" u="none" cap="none" strike="noStrike">
              <a:solidFill>
                <a:srgbClr val="0B0E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5"/>
              <a:buFont typeface="Arial"/>
              <a:buNone/>
            </a:pPr>
            <a:r>
              <a:rPr b="0" i="0" lang="en-US" sz="8175" u="none" cap="none" strike="noStrike">
                <a:solidFill>
                  <a:srgbClr val="0B0E1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2eaee72587cd156_12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260" name="Google Shape;260;g32eaee72587cd156_12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g32eaee72587cd156_12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